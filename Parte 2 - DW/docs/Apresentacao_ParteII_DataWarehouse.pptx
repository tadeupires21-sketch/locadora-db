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118872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Shape 1"/>
          <p:cNvSpPr/>
          <p:nvPr/>
        </p:nvSpPr>
        <p:spPr>
          <a:xfrm>
            <a:off x="8577072" y="713232"/>
            <a:ext cx="1801368" cy="886968"/>
          </a:xfrm>
          <a:prstGeom prst="line">
            <a:avLst/>
          </a:prstGeom>
          <a:noFill/>
          <a:ln w="12700">
            <a:solidFill>
              <a:srgbClr val="2E57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640080"/>
            <a:ext cx="146304" cy="146304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5" name="Shape 3"/>
          <p:cNvSpPr/>
          <p:nvPr/>
        </p:nvSpPr>
        <p:spPr>
          <a:xfrm>
            <a:off x="10378440" y="896112"/>
            <a:ext cx="-850392" cy="704088"/>
          </a:xfrm>
          <a:prstGeom prst="line">
            <a:avLst/>
          </a:prstGeom>
          <a:noFill/>
          <a:ln w="12700">
            <a:solidFill>
              <a:srgbClr val="2E57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822960"/>
            <a:ext cx="146304" cy="146304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7" name="Shape 5"/>
          <p:cNvSpPr/>
          <p:nvPr/>
        </p:nvSpPr>
        <p:spPr>
          <a:xfrm>
            <a:off x="8851392" y="1600200"/>
            <a:ext cx="1527048" cy="-1216152"/>
          </a:xfrm>
          <a:prstGeom prst="line">
            <a:avLst/>
          </a:prstGeom>
          <a:noFill/>
          <a:ln w="12700">
            <a:solidFill>
              <a:srgbClr val="2E57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2743200"/>
            <a:ext cx="146304" cy="146304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9" name="Shape 7"/>
          <p:cNvSpPr/>
          <p:nvPr/>
        </p:nvSpPr>
        <p:spPr>
          <a:xfrm>
            <a:off x="10378440" y="1600200"/>
            <a:ext cx="-1033272" cy="-1307592"/>
          </a:xfrm>
          <a:prstGeom prst="line">
            <a:avLst/>
          </a:prstGeom>
          <a:noFill/>
          <a:ln w="12700">
            <a:solidFill>
              <a:srgbClr val="2E57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8560" y="2834640"/>
            <a:ext cx="146304" cy="146304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11" name="Shape 9"/>
          <p:cNvSpPr/>
          <p:nvPr/>
        </p:nvSpPr>
        <p:spPr>
          <a:xfrm>
            <a:off x="10378440" y="1600200"/>
            <a:ext cx="-73152" cy="-2130552"/>
          </a:xfrm>
          <a:prstGeom prst="line">
            <a:avLst/>
          </a:prstGeom>
          <a:noFill/>
          <a:ln w="12700">
            <a:solidFill>
              <a:srgbClr val="2E57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3657600"/>
            <a:ext cx="146304" cy="146304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196596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Warehouse Dimensional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Processo ETL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técnicas de integração de 4 sistemas transacionais em um esquema estrela único — Sistema de Locação de Veículos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9808" y="5074920"/>
            <a:ext cx="29260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303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/ Big Data — Instituto de Computação, UFRJ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Tadeu Belfort Neto · Vicente Alves · João Pedro de Lacerda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DATA WAREHOUSE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problema: o mesmo domínio, modelado de quatro formas incompatíveis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grupos projetaram, de forma independente, o banco transacional de uma locadora. Cada um decidiu sozinho sobre normalização, granularidade e dialeto SQL. Reconciliar essas divergências a cada consulta seria inviável — o ETL resolve isso uma única vez, na carga.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895344"/>
            <a:ext cx="365760" cy="365760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3767328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heterogêneas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PF/PJ por discriminador, por herança ou modelo unificado; dialetos diferentes.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4855464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4727448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analítico central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de percentuais de movimentação de veículos entre os pátios da rede.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57784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5815584"/>
            <a:ext cx="365760" cy="365760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815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5687568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ao usuário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estável e conformado, isolado da complexidade das origens.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0" y="1783080"/>
            <a:ext cx="4206240" cy="4663440"/>
          </a:xfrm>
          <a:prstGeom prst="roundRect">
            <a:avLst>
              <a:gd name="adj" fmla="val 2174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352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justificativa de um DW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35240" y="265176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múltiplos sistemas em um repositório analítico único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7653528" y="4343400"/>
            <a:ext cx="3566160" cy="0"/>
          </a:xfrm>
          <a:prstGeom prst="line">
            <a:avLst/>
          </a:prstGeom>
          <a:noFill/>
          <a:ln w="12700">
            <a:solidFill>
              <a:srgbClr val="2E57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452628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relatórios gerenciais confiáveis e a matriz de movimentação entre pátios, a partir de uma base coerente.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 em camadas: staging → conformance → estrela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tem uma responsabilidade única e é executada na ordem das pastas. O dado bruto nunca é exposto ao usuário de negócio.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0449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oltp_g1 … g4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5021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fontes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transacionais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26664" y="3474720"/>
            <a:ext cx="274320" cy="0"/>
          </a:xfrm>
          <a:prstGeom prst="line">
            <a:avLst/>
          </a:prstGeom>
          <a:noFill/>
          <a:ln w="25400">
            <a:solidFill>
              <a:srgbClr val="5E728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55848" y="27889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30449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stg.*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55848" y="35021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(raw)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alteração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42432" y="3474720"/>
            <a:ext cx="274320" cy="0"/>
          </a:xfrm>
          <a:prstGeom prst="line">
            <a:avLst/>
          </a:prstGeom>
          <a:noFill/>
          <a:ln w="25400">
            <a:solidFill>
              <a:srgbClr val="5E728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71616" y="27889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6A89B"/>
          </a:solidFill>
          <a:ln/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71616" y="30449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stg.conf_*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71616" y="35021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 e unifica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58200" y="3474720"/>
            <a:ext cx="274320" cy="0"/>
          </a:xfrm>
          <a:prstGeom prst="line">
            <a:avLst/>
          </a:prstGeom>
          <a:noFill/>
          <a:ln w="25400">
            <a:solidFill>
              <a:srgbClr val="5E728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87384" y="27889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2A541"/>
          </a:solidFill>
          <a:ln/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87384" y="30449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dw.dim_* / fato_*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87384" y="35021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estrela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p/ análise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25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00-infra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4325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01-staging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71616" y="4325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02-transform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87384" y="4325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03-dw / 04-reports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166360"/>
            <a:ext cx="73152" cy="960120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1663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load periódico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completa diária às 00h — sem CDC.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97680" y="5166360"/>
            <a:ext cx="73152" cy="960120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51663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recria suas tabelas (DROP + CREATE).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55280" y="5166360"/>
            <a:ext cx="73152" cy="960120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29" name="Text 27"/>
          <p:cNvSpPr/>
          <p:nvPr/>
        </p:nvSpPr>
        <p:spPr>
          <a:xfrm>
            <a:off x="8156448" y="51663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Rastreável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sistema_origem em cada linha; reconciliação no fim.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 E JUSTIFICATIVA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fontes escolhidas para cobrir todo o espectro de modelagem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diversidade foi proposital: cada fonte exercita um desafio de conformação diferente, validando a robustez das transformações.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70048" cy="37033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68880"/>
            <a:ext cx="2670048" cy="56692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87168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Grupo do projeto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DE CONFORMAÇÃO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23042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 o par origem–destino de pátios de forma explícita (movimentacao_patio) e separa datas previstas × realizadas.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2468880"/>
            <a:ext cx="2670048" cy="37033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468880"/>
            <a:ext cx="2670048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487168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Grupo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32004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RICO E NORMALIZADO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0" y="3794760"/>
            <a:ext cx="23042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Devolução como entidade própria, caução com estado, specs constantes × variáveis e documentos de clientes estrangeiros.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468880"/>
            <a:ext cx="2670048" cy="37033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468880"/>
            <a:ext cx="2670048" cy="566928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487168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Grupo 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spc="100" kern="0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FORTEMENTE NORMALIZADO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3794760"/>
            <a:ext cx="23042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como entidade compartilhada, herança explícita PF/PJ e vaga modelada individualmente.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0" y="2468880"/>
            <a:ext cx="2670048" cy="37033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2468880"/>
            <a:ext cx="2670048" cy="566928"/>
          </a:xfrm>
          <a:prstGeom prst="rect">
            <a:avLst/>
          </a:prstGeom>
          <a:solidFill>
            <a:srgbClr val="C8862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2487168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Grupo 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0" y="32004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spc="100" kern="0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ENXUTO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26880" y="3794760"/>
            <a:ext cx="23042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e cobrança como texto livre; acessórios representados por colunas booleanas.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EXTRAÇÃO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completa (full load) para uma staging raw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78308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load, não incremental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reduzido e contexto acadêmico justificam recriar tudo. Elimina rastrear marcas de alteração (CDC) em 4 esquemas heterogêneos.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90088"/>
            <a:ext cx="384048" cy="384048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898648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Agendada para 00h00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madrugada — menor atividade dos sistemas transacionais.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05656"/>
            <a:ext cx="384048" cy="384048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4014216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script por fonte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diferem em dialeto SQL e estrutura; cada extração é específica.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221224"/>
            <a:ext cx="384048" cy="384048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5129784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raw, sem modificação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originais preservados para auditoria e reprocessamento. Cada extração registra volume de linhas e instante de execução.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60920" y="1828800"/>
            <a:ext cx="4160520" cy="4114800"/>
          </a:xfrm>
          <a:prstGeom prst="roundRect">
            <a:avLst>
              <a:gd name="adj" fmla="val 1778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 na staging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35240" y="24688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CF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stg.cliente</a:t>
            </a: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CF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stg.veiculo</a:t>
            </a: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CF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stg.locacao</a:t>
            </a: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CF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stg.reserva</a:t>
            </a: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CF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stg.movimentacao_patio</a:t>
            </a:r>
            <a:endParaRPr lang="en-US" sz="14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CFE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stg.patio  ·  stg.cobranca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653528" y="4892040"/>
            <a:ext cx="3566160" cy="0"/>
          </a:xfrm>
          <a:prstGeom prst="line">
            <a:avLst/>
          </a:prstGeom>
          <a:noFill/>
          <a:ln w="12700">
            <a:solidFill>
              <a:srgbClr val="2E57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5029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carrega grupo_fonte + src_id — a chave natural que evita colisões entre as quatro origens.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TRANSFORMAÇÃO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Conformance: onde as divergências são resolvidas de vez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esquema do próprio grupo foi adotado como referência de conformação — já expressa o par origem–destino de pátios e mantém a distinção previsto × realizado com integridade temporal.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43200"/>
            <a:ext cx="91440" cy="148132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443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Movimentação entre pátios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45643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transformação mais crítica — sustenta a matriz de movimentação.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74320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743200"/>
            <a:ext cx="91440" cy="1481328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9443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Conformação de clientes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345643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representações de cliente achatadas a um grão comum.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480560"/>
            <a:ext cx="91440" cy="14813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6817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Tipos, datas e domínios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" y="519379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Booleanos, timestamps e categóricos unificados entre dialetos.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448056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4480560"/>
            <a:ext cx="91440" cy="148132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6817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Geografia e devolução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3680" y="519379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Cidade/UF extraídas dos endereços; devolução reincorporada à locação.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TÉCNICO MAIS RELEVANTE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Reconstruir o par origem → destino dos pátios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de movimentação exige, para cada locação, de qual pátio o veículo saiu e em qual foi devolvido. Cada fonte entrega isso de um jeito.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14395E"/>
          </a:solidFill>
          <a:ln w="19050">
            <a:solidFill>
              <a:srgbClr val="16A8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880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do projeto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A8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pronto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822192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 direto de movimentacao_patio (origem, destino).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50792" y="2697480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14395E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9392" y="2880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4 e 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79392" y="3246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Direto da locação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279392" y="3822192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 pátio de retirada e devolução na própria locação.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61504" y="2697480"/>
            <a:ext cx="4297680" cy="2331720"/>
          </a:xfrm>
          <a:prstGeom prst="roundRect">
            <a:avLst>
              <a:gd name="adj" fmla="val 3137"/>
            </a:avLst>
          </a:prstGeom>
          <a:solidFill>
            <a:srgbClr val="14395E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0104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90104" y="3246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Junção em 3 saltos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690104" y="38221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Locacao → Devolucao → Vaga → Patio. A locação só registra a retirada; o destino real exige a indireção.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Grupo 2: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40280" y="53035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F4A6E"/>
          </a:solidFill>
          <a:ln/>
        </p:spPr>
      </p:sp>
      <p:sp>
        <p:nvSpPr>
          <p:cNvPr id="19" name="Text 17"/>
          <p:cNvSpPr/>
          <p:nvPr/>
        </p:nvSpPr>
        <p:spPr>
          <a:xfrm>
            <a:off x="2240280" y="5303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Locacao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59352" y="5559552"/>
            <a:ext cx="29260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33672" y="53035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F4A6E"/>
          </a:solidFill>
          <a:ln/>
        </p:spPr>
      </p:sp>
      <p:sp>
        <p:nvSpPr>
          <p:cNvPr id="22" name="Text 20"/>
          <p:cNvSpPr/>
          <p:nvPr/>
        </p:nvSpPr>
        <p:spPr>
          <a:xfrm>
            <a:off x="4233672" y="5303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Devolucao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52744" y="5559552"/>
            <a:ext cx="29260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27064" y="53035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1F4A6E"/>
          </a:solidFill>
          <a:ln/>
        </p:spPr>
      </p:sp>
      <p:sp>
        <p:nvSpPr>
          <p:cNvPr id="25" name="Text 23"/>
          <p:cNvSpPr/>
          <p:nvPr/>
        </p:nvSpPr>
        <p:spPr>
          <a:xfrm>
            <a:off x="6227064" y="5303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46136" y="5559552"/>
            <a:ext cx="29260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20456" y="53035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2A541"/>
          </a:solidFill>
          <a:ln/>
        </p:spPr>
      </p:sp>
      <p:sp>
        <p:nvSpPr>
          <p:cNvPr id="28" name="Text 26"/>
          <p:cNvSpPr/>
          <p:nvPr/>
        </p:nvSpPr>
        <p:spPr>
          <a:xfrm>
            <a:off x="8220456" y="5303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 tratar essa indireção foi o ponto de maior esforço — e o que mais reforçou o valor de uma staging intermediária.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CONFORMAÇÃO — CLIENTES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representações de cliente, um único grão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fontes representam o cliente de formas distintas. A transformação converge todas ao nível comum de granularidade, identificando cada cliente por uma chave substituta (surrogate key).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02152" cy="2057400"/>
          </a:xfrm>
          <a:prstGeom prst="roundRect">
            <a:avLst>
              <a:gd name="adj" fmla="val 3111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926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+ Grupo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Discriminador PF/PJ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campo de tipo distingue pessoa física e jurídica.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697480"/>
            <a:ext cx="3502152" cy="2057400"/>
          </a:xfrm>
          <a:prstGeom prst="roundRect">
            <a:avLst>
              <a:gd name="adj" fmla="val 3111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926080"/>
            <a:ext cx="457200" cy="457200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Herança em tabelas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3977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Física e Pessoa Jurídica em tabelas separadas — herança achatada na conformação.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2697480"/>
            <a:ext cx="3502152" cy="2057400"/>
          </a:xfrm>
          <a:prstGeom prst="roundRect">
            <a:avLst>
              <a:gd name="adj" fmla="val 3111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2926080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3520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unificado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3977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única com suporte a documentos de clientes estrangeiros.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07492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00200" y="5074920"/>
            <a:ext cx="9738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dw.dim_cliente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tipo PF/PJ derivado da fonte, atributos sem correspondência descartados, surrogate key + sistema_origem garantindo unicidade entre grupos.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CONFORMAÇÃO — TIPOS, DATAS E GEOGRAFIA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Unificar dialetos: PostgreSQL, MySQL e ANSI genérico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12064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aparece nas fontes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Após conformação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BOOLEAN  ·  TINYINT(1) 0/1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6A8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único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Carimbos de tempo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TIMESTAMP · DATETIME · DATE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6A8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de data único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Domínios divergentes por fonte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6A8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Domínios harmonizados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Geografia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Só cidade (projeto) · endereço normalizado (G2, G4)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6A8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 + UF extraídas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Devolução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Entidade própria (G2) · campo na locação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6A8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Reincorporada à locação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toda fonte passa a falar a mesma língua antes de entrar no esquema estrela — pré-requisito para somar métricas com segurança.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CARGA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Dimensões primeiro, fatos depois — e reconciliação ao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67128"/>
            <a:ext cx="384048" cy="384048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93392"/>
            <a:ext cx="5806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ditada pelas dependências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Carregam-se as dimensões e só então o fato, garantindo que toda FK do fato encontre a dimensão já presente.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35224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227832"/>
            <a:ext cx="384048" cy="384048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054096"/>
            <a:ext cx="5806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keys geradas na carga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chaves substitutas nascem nas dimensões e são referenciadas pelo fato.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995928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288536"/>
            <a:ext cx="384048" cy="384048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5806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Recriação a cada execução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ser carga completa, o conteúdo é refeito — elimina duplicação. 01_create_dw.sql é destrutivo (DROP SCHEMA CASCADE).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349240"/>
            <a:ext cx="384048" cy="384048"/>
          </a:xfrm>
          <a:prstGeom prst="ellipse">
            <a:avLst/>
          </a:prstGeom>
          <a:solidFill>
            <a:srgbClr val="16A89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175504"/>
            <a:ext cx="5806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final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 contagem de linhas da staging com a do DW ao término da carga.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635240" y="1874520"/>
            <a:ext cx="3886200" cy="4206240"/>
          </a:xfrm>
          <a:prstGeom prst="roundRect">
            <a:avLst>
              <a:gd name="adj" fmla="val 1882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0956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carga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09560" y="2560320"/>
            <a:ext cx="3337560" cy="548640"/>
          </a:xfrm>
          <a:prstGeom prst="roundRect">
            <a:avLst>
              <a:gd name="adj" fmla="val 8333"/>
            </a:avLst>
          </a:prstGeom>
          <a:solidFill>
            <a:srgbClr val="1F4A6E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dim_tempo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73768" y="3127248"/>
            <a:ext cx="0" cy="146304"/>
          </a:xfrm>
          <a:prstGeom prst="line">
            <a:avLst/>
          </a:prstGeom>
          <a:noFill/>
          <a:ln w="25400">
            <a:solidFill>
              <a:srgbClr val="4E7C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09560" y="3273552"/>
            <a:ext cx="3337560" cy="548640"/>
          </a:xfrm>
          <a:prstGeom prst="roundRect">
            <a:avLst>
              <a:gd name="adj" fmla="val 8333"/>
            </a:avLst>
          </a:prstGeom>
          <a:solidFill>
            <a:srgbClr val="1F4A6E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32735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dim_cliente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73768" y="3840480"/>
            <a:ext cx="0" cy="146304"/>
          </a:xfrm>
          <a:prstGeom prst="line">
            <a:avLst/>
          </a:prstGeom>
          <a:noFill/>
          <a:ln w="25400">
            <a:solidFill>
              <a:srgbClr val="4E7C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909560" y="3986784"/>
            <a:ext cx="3337560" cy="548640"/>
          </a:xfrm>
          <a:prstGeom prst="roundRect">
            <a:avLst>
              <a:gd name="adj" fmla="val 8333"/>
            </a:avLst>
          </a:prstGeom>
          <a:solidFill>
            <a:srgbClr val="1F4A6E"/>
          </a:solidFill>
          <a:ln/>
        </p:spPr>
      </p:sp>
      <p:sp>
        <p:nvSpPr>
          <p:cNvPr id="29" name="Text 27"/>
          <p:cNvSpPr/>
          <p:nvPr/>
        </p:nvSpPr>
        <p:spPr>
          <a:xfrm>
            <a:off x="8092440" y="39867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dim_veiculo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573768" y="4553712"/>
            <a:ext cx="0" cy="146304"/>
          </a:xfrm>
          <a:prstGeom prst="line">
            <a:avLst/>
          </a:prstGeom>
          <a:noFill/>
          <a:ln w="25400">
            <a:solidFill>
              <a:srgbClr val="4E7C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09560" y="4700016"/>
            <a:ext cx="3337560" cy="548640"/>
          </a:xfrm>
          <a:prstGeom prst="roundRect">
            <a:avLst>
              <a:gd name="adj" fmla="val 8333"/>
            </a:avLst>
          </a:prstGeom>
          <a:solidFill>
            <a:srgbClr val="1F4A6E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47000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dim_patio  +  demais dims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573768" y="5266944"/>
            <a:ext cx="0" cy="146304"/>
          </a:xfrm>
          <a:prstGeom prst="line">
            <a:avLst/>
          </a:prstGeom>
          <a:noFill/>
          <a:ln w="25400">
            <a:solidFill>
              <a:srgbClr val="4E7C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909560" y="5413248"/>
            <a:ext cx="3337560" cy="548640"/>
          </a:xfrm>
          <a:prstGeom prst="roundRect">
            <a:avLst>
              <a:gd name="adj" fmla="val 8333"/>
            </a:avLst>
          </a:prstGeom>
          <a:solidFill>
            <a:srgbClr val="F2A541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5413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fato_locacao  +  fatos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Esquema estrela com a dimensão de pátio em dois papéis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 do fato: uma locação concluída. A dimensão de pátio é referenciada duas vezes — origem e destino — viabilizando a matriz de transição sem duplicar dados (role-playing dimension).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80760" y="3072384"/>
            <a:ext cx="0" cy="1453896"/>
          </a:xfrm>
          <a:prstGeom prst="line">
            <a:avLst/>
          </a:prstGeom>
          <a:noFill/>
          <a:ln w="15875">
            <a:solidFill>
              <a:srgbClr val="5E72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4306824"/>
            <a:ext cx="3063240" cy="219456"/>
          </a:xfrm>
          <a:prstGeom prst="line">
            <a:avLst/>
          </a:prstGeom>
          <a:noFill/>
          <a:ln w="15875">
            <a:solidFill>
              <a:srgbClr val="5E728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5404104"/>
            <a:ext cx="3063240" cy="-877824"/>
          </a:xfrm>
          <a:prstGeom prst="line">
            <a:avLst/>
          </a:prstGeom>
          <a:noFill/>
          <a:ln w="15875">
            <a:solidFill>
              <a:srgbClr val="5E728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12680" y="3986784"/>
            <a:ext cx="-3931920" cy="539496"/>
          </a:xfrm>
          <a:prstGeom prst="line">
            <a:avLst/>
          </a:prstGeom>
          <a:noFill/>
          <a:ln w="15875">
            <a:solidFill>
              <a:srgbClr val="5E72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12680" y="5175504"/>
            <a:ext cx="-3931920" cy="-649224"/>
          </a:xfrm>
          <a:prstGeom prst="line">
            <a:avLst/>
          </a:prstGeom>
          <a:noFill/>
          <a:ln w="15875">
            <a:solidFill>
              <a:srgbClr val="5E728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278892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2788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DIM_TEMPO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11680" y="402336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6A89B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0" y="40233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DIM_CLIENTE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011680" y="51206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6A89B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11680" y="5120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DIM_VEICULO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06840" y="370332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06840" y="37033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78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DIM_PATIO (origem)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06840" y="48920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06840" y="48920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578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DIM_PATIO (destino)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4000500"/>
            <a:ext cx="2377440" cy="1051560"/>
          </a:xfrm>
          <a:prstGeom prst="roundRect">
            <a:avLst>
              <a:gd name="adj" fmla="val 6087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25400" dir="8100000">
              <a:srgbClr val="0E2A47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41650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FATO_LOCACAO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· qtd_dias · km_rodado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98932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EAF1F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8932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aditivas </a:t>
            </a:r>
            <a:pPr indent="0" marL="0"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(valor, dias, km) somáveis por qualquer dimensão   ·   </a:t>
            </a:r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degenerada </a:t>
            </a:r>
            <a:pPr indent="0" marL="0"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 da locação na origem)   ·   </a:t>
            </a:r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snowflake </a:t>
            </a:r>
            <a:pPr indent="0" marL="0">
              <a:buNone/>
            </a:pPr>
            <a:r>
              <a:rPr lang="en-US" sz="125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dim_veiculo → grupo/empresa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— CONCEITOS DE DATA WAREHOUSE APLICADOS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decisão, um conceito da disciplina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82296" cy="9144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476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 do fato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2585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locação concluída — define o nível de detalhe e o que pode ser perguntado.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28800"/>
            <a:ext cx="82296" cy="914400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19476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 dimension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2585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dim_patio reaproveitada como origem e destino: a base da matriz de movimentação.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0080" y="2907792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07792"/>
            <a:ext cx="82296" cy="9144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02666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aditivas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3337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valor, dias e km somáveis em todas as dimensões.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263640" y="2907792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907792"/>
            <a:ext cx="82296" cy="914400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302666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Tipo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9672" y="3337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refletem o estado atual; sem versionamento histórico.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40080" y="3986784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86784"/>
            <a:ext cx="82296" cy="9144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10565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degenerada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44165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da locação na origem mora no próprio fato.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263640" y="3986784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986784"/>
            <a:ext cx="82296" cy="914400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26" name="Text 24"/>
          <p:cNvSpPr/>
          <p:nvPr/>
        </p:nvSpPr>
        <p:spPr>
          <a:xfrm>
            <a:off x="6519672" y="410565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pontual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19672" y="44165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dim_veiculo normaliza grupo e empresa — estrela com um ramo.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40080" y="5065776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065776"/>
            <a:ext cx="82296" cy="9144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51846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natural composta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6112" y="54955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(grupo_fonte, src_id) evita colisão entre as 4 origens.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6263640" y="5065776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5065776"/>
            <a:ext cx="82296" cy="914400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34" name="Text 32"/>
          <p:cNvSpPr/>
          <p:nvPr/>
        </p:nvSpPr>
        <p:spPr>
          <a:xfrm>
            <a:off x="6519672" y="51846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idempotente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19672" y="54955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IMMUTABLE + recriação de tabelas = cargas determinísticas e testáveis.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PROBLEMAS, OBSERVAÇÕES E CONCLUSÃO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ETL é o que torna possível um modelo analítico coerente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82296" cy="868680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317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Heterogeneidade de dialetos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× MySQL × ANSI exigiu cuidado constante com booleanos e timestamps.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72200" y="2331720"/>
            <a:ext cx="82296" cy="868680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23317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Reconstrução indireta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junção em 3 saltos do Grupo 2 foi o maior desafio e reforçou o valor da staging.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82296" cy="868680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3832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Granularidades distintas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quais atributos de cliente e endereço preservar para um grão comum.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3383280"/>
            <a:ext cx="82296" cy="868680"/>
          </a:xfrm>
          <a:prstGeom prst="rect">
            <a:avLst/>
          </a:prstGeom>
          <a:solidFill>
            <a:srgbClr val="16A89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33832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sem correspondência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Caução, extensão de reserva e specs de combustível ficaram fora do modelo.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14395E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54406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Diante de quatro sistemas que modelam o mesmo domínio de formas incompatíveis, só um ETL bem definido consolida tudo num esquema estrela coerente. O resultado entrega métricas estáveis e sustenta a matriz de movimentação entre pátios — isolando o usuário final da complexidade das origens.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2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Parte II - Data Warehouse Dimensional</dc:title>
  <dc:subject>PptxGenJS Presentation</dc:subject>
  <dc:creator>Grupo - Tadeu Belfort Neto</dc:creator>
  <cp:lastModifiedBy>Grupo - Tadeu Belfort Neto</cp:lastModifiedBy>
  <cp:revision>1</cp:revision>
  <dcterms:created xsi:type="dcterms:W3CDTF">2026-06-21T01:34:03Z</dcterms:created>
  <dcterms:modified xsi:type="dcterms:W3CDTF">2026-06-21T01:34:03Z</dcterms:modified>
</cp:coreProperties>
</file>